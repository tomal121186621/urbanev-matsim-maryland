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theme" Target="theme/theme1.xml"/>
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FFFF"/>
                </a:solidFill>
                <a:latin typeface="Calibri"/>
              </a:rPr>
              <a:t>UrbanEV-v2 Maryland: Simulation Results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B4B4DC"/>
                </a:solidFill>
                <a:latin typeface="Calibri"/>
              </a:rPr>
              <a:t>Auto-generated after iteration 6 | 130,837 EV Agents | 30 Iterations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Iterations completed: 7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Total en-route insertions: 36,074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Home charging sessions: 62,409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No-charger-found errors: 49,944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Charger-full retries: 3,144,728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github.com/Tomal121186621/UrbanEV-MATSim-Maryland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Score Convergence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Avg best should stabilize or improve as agents learn charging strategies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Avg Executed   Avg Worst   Avg Average   Avg Best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-1.367       -1.367       -1.367       -1.367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-2.658       -3.090       -2.315       -1.541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-4.091       -5.319       -3.470       -1.715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-5.341       -7.455       -4.510       -1.711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-6.230       -9.309       -5.356       -1.598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-6.874      -10.973       -6.075       -1.428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  -7.111      -12.022       -6.502       -1.225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Avg Best trend: -1.367 -&gt; -1.225 (IMPROVING)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Multi-Day SoC Persistence &amp; Overnight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End-of-day SoC carried to next iteration with realistic overnight recharging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Vehicles   Plugged In   Plug Rate   Home Charged   No Charger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130,837     76,381      58.4%      76,381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130,837     54,354      41.5%      54,354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130,837     48,139      36.8%      48,139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130,837     44,430      34.0%      44,430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130,837     41,761      31.9%      41,761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130,837     39,372      30.1%      39,372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130,837     37,831      28.9%      37,831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Overnight charging model (NREL 2023; INL 2015):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SoC-dependent plug-in probability: &lt;30%=95%, 30-50%=85%, 50-70%=65%, &gt;90%=10%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Target SoC: Tesla 80/90/100%, Non-Tesla 80/90/100%, PHEV 100%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L1 max 11 kWh overnight | L2 max 58 kWh overnight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673AB7"/>
                </a:solidFill>
                <a:latin typeface="Calibri"/>
              </a:rPr>
              <a:t>SoC Problems &amp; En-Route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Agents with depleted batteries get mid-trip DCFC stops inserted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SoC Problems   En-Route Insertions (cumulative)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1       24,681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2       24,720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3       25,375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4       26,197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5       26,425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6       26,430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7       26,134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Total en-route insertions: 36,074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En-route charging features: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DCFC preferred, L2 fallback only when no DCFC on route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Dynamic duration from remaining distance x consumption rate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Risk-based charger selection: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risk_averse (16%): earliest 25%, 30%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moderate (48%): middle 50%, 15%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risk_neutral (36%): latest 25%, 5% buffer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Stuck Agents (Network Performance)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Queue traffic dynamics eliminated the 95% stuck rate from kinematic waves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Stuck Agents   % of 130,837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0            51       0.04%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1            55       0.04%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2            57       0.04%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3            59       0.05%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5            62       0.05%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Traffic dynamics: queue (fixes kinematic wave short-link gridlock)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flowCapacityFactor: 1.0 | storageCapacityFactor: 1.0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stuckTime: 900s | removeStuckVehicles: true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9800"/>
                </a:solidFill>
                <a:latin typeface="Calibri"/>
              </a:rPr>
              <a:t>Charging Infrastructure Performance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Workplace competition, charger reliability, and infrastructure gaps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MobsimScopeEventHandling:224 Workplace charging: created 2989 shared charger pools (ratio 1:5) from 11537 EV workers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Reliability (per iteration)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0  914/9789 plugs disabled (9.3%),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1  907/9789 plugs disabled (9.3%), 283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2  944/9789 plugs disabled (9.6%),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3  938/9789 plugs disabled (9.6%), 258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4  903/9789 plugs disabled (9.2%), 215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Errors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No charger found: 49,944 total across all iterations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 full retries: 3,144,728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Public chargers: 1,607 L2 + 283 DCFC + 68 DCFC_TESLA = 1,958 total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Home chargers: 76,787 L2 + 29,333 L1 = 106,120 agents with home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pools: 2,989 shared charger pools (1:5 ratio)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Summary — After Iteration 6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Auto-updated | github.com/Tomal121186621/UrbanEV-MATSim-Maryland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Simulation Progress: 7 of 30 iterations complete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Key Metrics (latest iteration):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executed score: -7.111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best score: -1.225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Stuck agents: 63 (0.05%)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 problems: 26,134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En-route insertions: 36,074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Home sessions: 62,409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Features Active: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PHEV gas fallback (40K PHEV agents)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Multi-day SoC persistence + overnight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Workplace charger competition (1:5 ratio)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Cost-aware charging (softmax weighted)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Charger reliability (80% DCFC, 92% L2)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Dynamic en-route charging (DCFC preferred)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Research-backed scoring calibration (8 params)</a:t>
            </a:r>
          </a:p>
        </p:txBody>
      </p:sp>
    </p:spTree>
  </p:cSld>
</p:sld>
</file>

<file path=ppt/theme/theme1.xml><?xml version="1.0" encoding="utf-8"?>
<a:theme xmlns:a="http://schemas.openxmlformats.org/drawingml/2006/main" name="Results">
  <a:themeElements>
    <a:clrScheme name="Results">
      <a:dk1>
        <a:srgbClr val="1A1A2E"/>
      </a:dk1>
      <a:lt1>
        <a:srgbClr val="FFFFFF"/>
      </a:lt1>
      <a:dk2>
        <a:srgbClr val="373737"/>
      </a:dk2>
      <a:lt2>
        <a:srgbClr val="F5F5F5"/>
      </a:lt2>
      <a:accent1>
        <a:srgbClr val="2196F3"/>
      </a:accent1>
      <a:accent2>
        <a:srgbClr val="4CAF50"/>
      </a:accent2>
      <a:accent3>
        <a:srgbClr val="FF9800"/>
      </a:accent3>
      <a:accent4>
        <a:srgbClr val="E91E63"/>
      </a:accent4>
      <a:accent5>
        <a:srgbClr val="673AB7"/>
      </a:accent5>
      <a:accent6>
        <a:srgbClr val="009688"/>
      </a:accent6>
      <a:hlink>
        <a:srgbClr val="0563C1"/>
      </a:hlink>
      <a:folHlink>
        <a:srgbClr val="954F72"/>
      </a:folHlink>
    </a:clrScheme>
    <a:fontScheme name="Results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