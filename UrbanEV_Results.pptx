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theme" Target="theme/theme1.xml"/>
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00000" y="150000"/>
            <a:ext cx="8344000" cy="500000"/>
          </a:xfrm>
          <a:prstGeom prst="rect">
            <a:avLst/>
          </a:prstGeom>
        </p:spPr>
        <p:txBody>
          <a:bodyPr/>
          <a:lstStyle/>
          <a:p>
            <a:r>
              <a:rPr lang="en-US" sz="2200" b="1" dirty="0">
                <a:solidFill>
                  <a:srgbClr val="FFFFFF"/>
                </a:solidFill>
                <a:latin typeface="Calibri"/>
              </a:rPr>
              <a:t>UrbanEV-v2 Maryland: Simulation Results</a:t>
            </a:r>
          </a:p>
        </p:txBody>
      </p:sp>
      <p:sp>
        <p:nvSpPr>
          <p:cNvPr id="3" name="Sub"/>
          <p:cNvSpPr/>
          <p:nvPr/>
        </p:nvSpPr>
        <p:spPr>
          <a:xfrm>
            <a:off x="400000" y="620000"/>
            <a:ext cx="8344000" cy="250000"/>
          </a:xfrm>
          <a:prstGeom prst="rect">
            <a:avLst/>
          </a:prstGeom>
        </p:spPr>
        <p:txBody>
          <a:bodyPr/>
          <a:lstStyle/>
          <a:p>
            <a:r>
              <a:rPr lang="en-US" sz="1000" dirty="0">
                <a:solidFill>
                  <a:srgbClr val="B4B4DC"/>
                </a:solidFill>
                <a:latin typeface="Calibri"/>
              </a:rPr>
              <a:t>Auto-generated after iteration 5 | 130,837 EV Agents | 30 Iterations</a:t>
            </a:r>
          </a:p>
        </p:txBody>
      </p:sp>
      <p:sp>
        <p:nvSpPr>
          <p:cNvPr id="4" name="Body"/>
          <p:cNvSpPr/>
          <p:nvPr/>
        </p:nvSpPr>
        <p:spPr>
          <a:xfrm>
            <a:off x="400000" y="900000"/>
            <a:ext cx="8344000" cy="4000000"/>
          </a:xfrm>
          <a:prstGeom prst="rect">
            <a:avLst/>
          </a:prstGeom>
        </p:spPr>
        <p:txBody>
          <a:bodyPr wrap="square" lIns="0" tIns="0" rIns="0" bIns="0"/>
          <a:lstStyle/>
          <a:p>
            <a:r>
              <a:rPr lang="en-US" sz="900" dirty="0">
                <a:solidFill>
                  <a:srgbClr val="B4B4DC"/>
                </a:solidFill>
                <a:latin typeface="Consolas"/>
              </a:rPr>
              <a:t>Iterations completed: 6</a:t>
            </a:r>
          </a:p>
          <a:p>
            <a:r>
              <a:rPr lang="en-US" sz="900" dirty="0">
                <a:solidFill>
                  <a:srgbClr val="B4B4DC"/>
                </a:solidFill>
                <a:latin typeface="Consolas"/>
              </a:rPr>
              <a:t>Total en-route insertions: 30,660</a:t>
            </a:r>
          </a:p>
          <a:p>
            <a:r>
              <a:rPr lang="en-US" sz="900" dirty="0">
                <a:solidFill>
                  <a:srgbClr val="B4B4DC"/>
                </a:solidFill>
                <a:latin typeface="Consolas"/>
              </a:rPr>
              <a:t>Home charging sessions: 40,036</a:t>
            </a:r>
          </a:p>
          <a:p>
            <a:r>
              <a:rPr lang="en-US" sz="900" dirty="0">
                <a:solidFill>
                  <a:srgbClr val="B4B4DC"/>
                </a:solidFill>
                <a:latin typeface="Consolas"/>
              </a:rPr>
              <a:t>No-charger-found errors: 53,982</a:t>
            </a:r>
          </a:p>
          <a:p>
            <a:r>
              <a:rPr lang="en-US" sz="900" dirty="0">
                <a:solidFill>
                  <a:srgbClr val="B4B4DC"/>
                </a:solidFill>
                <a:latin typeface="Consolas"/>
              </a:rPr>
              <a:t>Charger-full retries: 0</a:t>
            </a:r>
          </a:p>
          <a:p>
            <a:r>
              <a:rPr lang="en-US" sz="900" dirty="0">
                <a:solidFill>
                  <a:srgbClr val="B4B4DC"/>
                </a:solidFill>
                <a:latin typeface="Consolas"/>
              </a:rPr>
              <a:t/>
            </a:r>
          </a:p>
          <a:p>
            <a:r>
              <a:rPr lang="en-US" sz="900" dirty="0">
                <a:solidFill>
                  <a:srgbClr val="B4B4DC"/>
                </a:solidFill>
                <a:latin typeface="Consolas"/>
              </a:rPr>
              <a:t>github.com/Tomal121186621/UrbanEV-MATSim-Maryland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00000" y="150000"/>
            <a:ext cx="8344000" cy="500000"/>
          </a:xfrm>
          <a:prstGeom prst="rect">
            <a:avLst/>
          </a:prstGeom>
        </p:spPr>
        <p:txBody>
          <a:bodyPr/>
          <a:lstStyle/>
          <a:p>
            <a:r>
              <a:rPr lang="en-US" sz="2200" b="1" dirty="0">
                <a:solidFill>
                  <a:srgbClr val="2196F3"/>
                </a:solidFill>
                <a:latin typeface="Calibri"/>
              </a:rPr>
              <a:t>Score Convergence</a:t>
            </a:r>
          </a:p>
        </p:txBody>
      </p:sp>
      <p:sp>
        <p:nvSpPr>
          <p:cNvPr id="3" name="Sub"/>
          <p:cNvSpPr/>
          <p:nvPr/>
        </p:nvSpPr>
        <p:spPr>
          <a:xfrm>
            <a:off x="400000" y="620000"/>
            <a:ext cx="8344000" cy="250000"/>
          </a:xfrm>
          <a:prstGeom prst="rect">
            <a:avLst/>
          </a:prstGeom>
        </p:spPr>
        <p:txBody>
          <a:bodyPr/>
          <a:lstStyle/>
          <a:p>
            <a:r>
              <a:rPr lang="en-US" sz="1000" dirty="0">
                <a:solidFill>
                  <a:srgbClr val="777777"/>
                </a:solidFill>
                <a:latin typeface="Calibri"/>
              </a:rPr>
              <a:t>Avg best should stabilize or improve as agents learn charging strategies</a:t>
            </a:r>
          </a:p>
        </p:txBody>
      </p:sp>
      <p:sp>
        <p:nvSpPr>
          <p:cNvPr id="4" name="Body"/>
          <p:cNvSpPr/>
          <p:nvPr/>
        </p:nvSpPr>
        <p:spPr>
          <a:xfrm>
            <a:off x="400000" y="900000"/>
            <a:ext cx="8344000" cy="4000000"/>
          </a:xfrm>
          <a:prstGeom prst="rect">
            <a:avLst/>
          </a:prstGeom>
        </p:spPr>
        <p:txBody>
          <a:bodyPr wrap="square" lIns="0" tIns="0" rIns="0" bIns="0"/>
          <a:lstStyle/>
          <a:p>
            <a:r>
              <a:rPr lang="en-US" sz="900" dirty="0">
                <a:solidFill>
                  <a:srgbClr val="373737"/>
                </a:solidFill>
                <a:latin typeface="Consolas"/>
              </a:rPr>
              <a:t>Iter   Avg Executed   Avg Worst   Avg Average   Avg Best</a:t>
            </a:r>
          </a:p>
          <a:p>
            <a:r>
              <a:rPr lang="en-US" sz="900" dirty="0">
                <a:solidFill>
                  <a:srgbClr val="373737"/>
                </a:solidFill>
                <a:latin typeface="Consolas"/>
              </a:rPr>
              <a:t>-----------------------------------------------------------------</a:t>
            </a:r>
          </a:p>
          <a:p>
            <a:r>
              <a:rPr lang="en-US" sz="900" dirty="0">
                <a:solidFill>
                  <a:srgbClr val="373737"/>
                </a:solidFill>
                <a:latin typeface="Consolas"/>
              </a:rPr>
              <a:t>   0         -1.258       -1.258       -1.258       -1.258</a:t>
            </a:r>
          </a:p>
          <a:p>
            <a:r>
              <a:rPr lang="en-US" sz="900" dirty="0">
                <a:solidFill>
                  <a:srgbClr val="373737"/>
                </a:solidFill>
                <a:latin typeface="Consolas"/>
              </a:rPr>
              <a:t>   1         -2.138       -2.828       -1.942       -1.056</a:t>
            </a:r>
          </a:p>
          <a:p>
            <a:r>
              <a:rPr lang="en-US" sz="900" dirty="0">
                <a:solidFill>
                  <a:srgbClr val="373737"/>
                </a:solidFill>
                <a:latin typeface="Consolas"/>
              </a:rPr>
              <a:t>   2         -3.253       -4.795       -2.778       -0.874</a:t>
            </a:r>
          </a:p>
          <a:p>
            <a:r>
              <a:rPr lang="en-US" sz="900" dirty="0">
                <a:solidFill>
                  <a:srgbClr val="373737"/>
                </a:solidFill>
                <a:latin typeface="Consolas"/>
              </a:rPr>
              <a:t>   3         -4.272       -6.628       -3.535       -0.661</a:t>
            </a:r>
          </a:p>
          <a:p>
            <a:r>
              <a:rPr lang="en-US" sz="900" dirty="0">
                <a:solidFill>
                  <a:srgbClr val="373737"/>
                </a:solidFill>
                <a:latin typeface="Consolas"/>
              </a:rPr>
              <a:t>   4         -4.984       -8.187       -4.149       -0.408</a:t>
            </a:r>
          </a:p>
          <a:p>
            <a:r>
              <a:rPr lang="en-US" sz="900" dirty="0">
                <a:solidFill>
                  <a:srgbClr val="373737"/>
                </a:solidFill>
                <a:latin typeface="Consolas"/>
              </a:rPr>
              <a:t>   5         -5.494       -9.539       -4.671       -0.180</a:t>
            </a:r>
          </a:p>
          <a:p>
            <a:r>
              <a:rPr lang="en-US" sz="900" dirty="0">
                <a:solidFill>
                  <a:srgbClr val="373737"/>
                </a:solidFill>
                <a:latin typeface="Consolas"/>
              </a:rPr>
              <a:t/>
            </a:r>
          </a:p>
          <a:p>
            <a:r>
              <a:rPr lang="en-US" sz="900" dirty="0">
                <a:solidFill>
                  <a:srgbClr val="373737"/>
                </a:solidFill>
                <a:latin typeface="Consolas"/>
              </a:rPr>
              <a:t>Avg Best trend: -1.258 -&gt; -0.180 (IMPROVING)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00000" y="150000"/>
            <a:ext cx="8344000" cy="500000"/>
          </a:xfrm>
          <a:prstGeom prst="rect">
            <a:avLst/>
          </a:prstGeom>
        </p:spPr>
        <p:txBody>
          <a:bodyPr/>
          <a:lstStyle/>
          <a:p>
            <a:r>
              <a:rPr lang="en-US" sz="2200" b="1" dirty="0">
                <a:solidFill>
                  <a:srgbClr val="4CAF50"/>
                </a:solidFill>
                <a:latin typeface="Calibri"/>
              </a:rPr>
              <a:t>Multi-Day SoC Persistence &amp; Overnight Charging</a:t>
            </a:r>
          </a:p>
        </p:txBody>
      </p:sp>
      <p:sp>
        <p:nvSpPr>
          <p:cNvPr id="3" name="Sub"/>
          <p:cNvSpPr/>
          <p:nvPr/>
        </p:nvSpPr>
        <p:spPr>
          <a:xfrm>
            <a:off x="400000" y="620000"/>
            <a:ext cx="8344000" cy="250000"/>
          </a:xfrm>
          <a:prstGeom prst="rect">
            <a:avLst/>
          </a:prstGeom>
        </p:spPr>
        <p:txBody>
          <a:bodyPr/>
          <a:lstStyle/>
          <a:p>
            <a:r>
              <a:rPr lang="en-US" sz="1000" dirty="0">
                <a:solidFill>
                  <a:srgbClr val="777777"/>
                </a:solidFill>
                <a:latin typeface="Calibri"/>
              </a:rPr>
              <a:t>End-of-day SoC carried to next iteration with realistic overnight recharging</a:t>
            </a:r>
          </a:p>
        </p:txBody>
      </p:sp>
      <p:sp>
        <p:nvSpPr>
          <p:cNvPr id="4" name="Body"/>
          <p:cNvSpPr/>
          <p:nvPr/>
        </p:nvSpPr>
        <p:spPr>
          <a:xfrm>
            <a:off x="400000" y="900000"/>
            <a:ext cx="8344000" cy="4000000"/>
          </a:xfrm>
          <a:prstGeom prst="rect">
            <a:avLst/>
          </a:prstGeom>
        </p:spPr>
        <p:txBody>
          <a:bodyPr wrap="square" lIns="0" tIns="0" rIns="0" bIns="0"/>
          <a:lstStyle/>
          <a:p>
            <a:r>
              <a:rPr lang="en-US" sz="900" dirty="0">
                <a:solidFill>
                  <a:srgbClr val="373737"/>
                </a:solidFill>
                <a:latin typeface="Consolas"/>
              </a:rPr>
              <a:t>Iter   Vehicles   Plugged In   Plug Rate   Home Charged   No Charger</a:t>
            </a:r>
          </a:p>
          <a:p>
            <a:r>
              <a:rPr lang="en-US" sz="900" dirty="0">
                <a:solidFill>
                  <a:srgbClr val="373737"/>
                </a:solidFill>
                <a:latin typeface="Consolas"/>
              </a:rPr>
              <a:t>---------------------------------------------------------------------------</a:t>
            </a:r>
          </a:p>
          <a:p>
            <a:r>
              <a:rPr lang="en-US" sz="900" dirty="0">
                <a:solidFill>
                  <a:srgbClr val="373737"/>
                </a:solidFill>
                <a:latin typeface="Consolas"/>
              </a:rPr>
              <a:t>   0    130,837     76,109      58.2%      76,109     24,717</a:t>
            </a:r>
          </a:p>
          <a:p>
            <a:r>
              <a:rPr lang="en-US" sz="900" dirty="0">
                <a:solidFill>
                  <a:srgbClr val="373737"/>
                </a:solidFill>
                <a:latin typeface="Consolas"/>
              </a:rPr>
              <a:t>   1    130,837     53,632      41.0%      53,632     24,717</a:t>
            </a:r>
          </a:p>
          <a:p>
            <a:r>
              <a:rPr lang="en-US" sz="900" dirty="0">
                <a:solidFill>
                  <a:srgbClr val="373737"/>
                </a:solidFill>
                <a:latin typeface="Consolas"/>
              </a:rPr>
              <a:t>   2    130,837     48,858      37.3%      48,858     24,717</a:t>
            </a:r>
          </a:p>
          <a:p>
            <a:r>
              <a:rPr lang="en-US" sz="900" dirty="0">
                <a:solidFill>
                  <a:srgbClr val="373737"/>
                </a:solidFill>
                <a:latin typeface="Consolas"/>
              </a:rPr>
              <a:t>   3    130,837     45,798      35.0%      45,798     24,717</a:t>
            </a:r>
          </a:p>
          <a:p>
            <a:r>
              <a:rPr lang="en-US" sz="900" dirty="0">
                <a:solidFill>
                  <a:srgbClr val="373737"/>
                </a:solidFill>
                <a:latin typeface="Consolas"/>
              </a:rPr>
              <a:t>   4    130,837     43,745      33.4%      43,745     24,717</a:t>
            </a:r>
          </a:p>
          <a:p>
            <a:r>
              <a:rPr lang="en-US" sz="900" dirty="0">
                <a:solidFill>
                  <a:srgbClr val="373737"/>
                </a:solidFill>
                <a:latin typeface="Consolas"/>
              </a:rPr>
              <a:t>   5    130,837     42,522      32.5%      42,522     24,717</a:t>
            </a:r>
          </a:p>
          <a:p>
            <a:r>
              <a:rPr lang="en-US" sz="900" dirty="0">
                <a:solidFill>
                  <a:srgbClr val="373737"/>
                </a:solidFill>
                <a:latin typeface="Consolas"/>
              </a:rPr>
              <a:t/>
            </a:r>
          </a:p>
          <a:p>
            <a:r>
              <a:rPr lang="en-US" sz="900" dirty="0">
                <a:solidFill>
                  <a:srgbClr val="373737"/>
                </a:solidFill>
                <a:latin typeface="Consolas"/>
              </a:rPr>
              <a:t>Overnight charging model (NREL 2023; INL 2015):</a:t>
            </a:r>
          </a:p>
          <a:p>
            <a:r>
              <a:rPr lang="en-US" sz="900" dirty="0">
                <a:solidFill>
                  <a:srgbClr val="373737"/>
                </a:solidFill>
                <a:latin typeface="Consolas"/>
              </a:rPr>
              <a:t>  SoC-dependent plug-in probability: &lt;30%=95%, 30-50%=85%, 50-70%=65%, &gt;90%=10%</a:t>
            </a:r>
          </a:p>
          <a:p>
            <a:r>
              <a:rPr lang="en-US" sz="900" dirty="0">
                <a:solidFill>
                  <a:srgbClr val="373737"/>
                </a:solidFill>
                <a:latin typeface="Consolas"/>
              </a:rPr>
              <a:t>  Target SoC: Tesla 80/90/100%, Non-Tesla 80/90/100%, PHEV 100%</a:t>
            </a:r>
          </a:p>
          <a:p>
            <a:r>
              <a:rPr lang="en-US" sz="900" dirty="0">
                <a:solidFill>
                  <a:srgbClr val="373737"/>
                </a:solidFill>
                <a:latin typeface="Consolas"/>
              </a:rPr>
              <a:t>  L1 max 11 kWh overnight | L2 max 58 kWh overnight</a:t>
            </a: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00000" y="150000"/>
            <a:ext cx="8344000" cy="500000"/>
          </a:xfrm>
          <a:prstGeom prst="rect">
            <a:avLst/>
          </a:prstGeom>
        </p:spPr>
        <p:txBody>
          <a:bodyPr/>
          <a:lstStyle/>
          <a:p>
            <a:r>
              <a:rPr lang="en-US" sz="2200" b="1" dirty="0">
                <a:solidFill>
                  <a:srgbClr val="673AB7"/>
                </a:solidFill>
                <a:latin typeface="Calibri"/>
              </a:rPr>
              <a:t>SoC Problems &amp; En-Route Charging</a:t>
            </a:r>
          </a:p>
        </p:txBody>
      </p:sp>
      <p:sp>
        <p:nvSpPr>
          <p:cNvPr id="3" name="Sub"/>
          <p:cNvSpPr/>
          <p:nvPr/>
        </p:nvSpPr>
        <p:spPr>
          <a:xfrm>
            <a:off x="400000" y="620000"/>
            <a:ext cx="8344000" cy="250000"/>
          </a:xfrm>
          <a:prstGeom prst="rect">
            <a:avLst/>
          </a:prstGeom>
        </p:spPr>
        <p:txBody>
          <a:bodyPr/>
          <a:lstStyle/>
          <a:p>
            <a:r>
              <a:rPr lang="en-US" sz="1000" dirty="0">
                <a:solidFill>
                  <a:srgbClr val="777777"/>
                </a:solidFill>
                <a:latin typeface="Calibri"/>
              </a:rPr>
              <a:t>Agents with depleted batteries get mid-trip DCFC stops inserted</a:t>
            </a:r>
          </a:p>
        </p:txBody>
      </p:sp>
      <p:sp>
        <p:nvSpPr>
          <p:cNvPr id="4" name="Body"/>
          <p:cNvSpPr/>
          <p:nvPr/>
        </p:nvSpPr>
        <p:spPr>
          <a:xfrm>
            <a:off x="400000" y="900000"/>
            <a:ext cx="8344000" cy="4000000"/>
          </a:xfrm>
          <a:prstGeom prst="rect">
            <a:avLst/>
          </a:prstGeom>
        </p:spPr>
        <p:txBody>
          <a:bodyPr wrap="square" lIns="0" tIns="0" rIns="0" bIns="0"/>
          <a:lstStyle/>
          <a:p>
            <a:r>
              <a:rPr lang="en-US" sz="900" dirty="0">
                <a:solidFill>
                  <a:srgbClr val="373737"/>
                </a:solidFill>
                <a:latin typeface="Consolas"/>
              </a:rPr>
              <a:t>Iter   SoC Problems   En-Route Insertions (cumulative)</a:t>
            </a:r>
          </a:p>
          <a:p>
            <a:r>
              <a:rPr lang="en-US" sz="900" dirty="0">
                <a:solidFill>
                  <a:srgbClr val="373737"/>
                </a:solidFill>
                <a:latin typeface="Consolas"/>
              </a:rPr>
              <a:t>-------------------------------------------------------</a:t>
            </a:r>
          </a:p>
          <a:p>
            <a:r>
              <a:rPr lang="en-US" sz="900" dirty="0">
                <a:solidFill>
                  <a:srgbClr val="373737"/>
                </a:solidFill>
                <a:latin typeface="Consolas"/>
              </a:rPr>
              <a:t>   1       24,438</a:t>
            </a:r>
          </a:p>
          <a:p>
            <a:r>
              <a:rPr lang="en-US" sz="900" dirty="0">
                <a:solidFill>
                  <a:srgbClr val="373737"/>
                </a:solidFill>
                <a:latin typeface="Consolas"/>
              </a:rPr>
              <a:t>   2       24,753</a:t>
            </a:r>
          </a:p>
          <a:p>
            <a:r>
              <a:rPr lang="en-US" sz="900" dirty="0">
                <a:solidFill>
                  <a:srgbClr val="373737"/>
                </a:solidFill>
                <a:latin typeface="Consolas"/>
              </a:rPr>
              <a:t>   3       24,505</a:t>
            </a:r>
          </a:p>
          <a:p>
            <a:r>
              <a:rPr lang="en-US" sz="900" dirty="0">
                <a:solidFill>
                  <a:srgbClr val="373737"/>
                </a:solidFill>
                <a:latin typeface="Consolas"/>
              </a:rPr>
              <a:t>   4       25,066</a:t>
            </a:r>
          </a:p>
          <a:p>
            <a:r>
              <a:rPr lang="en-US" sz="900" dirty="0">
                <a:solidFill>
                  <a:srgbClr val="373737"/>
                </a:solidFill>
                <a:latin typeface="Consolas"/>
              </a:rPr>
              <a:t>   5       25,280</a:t>
            </a:r>
          </a:p>
          <a:p>
            <a:r>
              <a:rPr lang="en-US" sz="900" dirty="0">
                <a:solidFill>
                  <a:srgbClr val="373737"/>
                </a:solidFill>
                <a:latin typeface="Consolas"/>
              </a:rPr>
              <a:t>   6       25,322</a:t>
            </a:r>
          </a:p>
          <a:p>
            <a:r>
              <a:rPr lang="en-US" sz="900" dirty="0">
                <a:solidFill>
                  <a:srgbClr val="373737"/>
                </a:solidFill>
                <a:latin typeface="Consolas"/>
              </a:rPr>
              <a:t/>
            </a:r>
          </a:p>
          <a:p>
            <a:r>
              <a:rPr lang="en-US" sz="900" dirty="0">
                <a:solidFill>
                  <a:srgbClr val="373737"/>
                </a:solidFill>
                <a:latin typeface="Consolas"/>
              </a:rPr>
              <a:t>Total en-route insertions: 30,660</a:t>
            </a:r>
          </a:p>
          <a:p>
            <a:r>
              <a:rPr lang="en-US" sz="900" dirty="0">
                <a:solidFill>
                  <a:srgbClr val="373737"/>
                </a:solidFill>
                <a:latin typeface="Consolas"/>
              </a:rPr>
              <a:t/>
            </a:r>
          </a:p>
          <a:p>
            <a:r>
              <a:rPr lang="en-US" sz="900" dirty="0">
                <a:solidFill>
                  <a:srgbClr val="373737"/>
                </a:solidFill>
                <a:latin typeface="Consolas"/>
              </a:rPr>
              <a:t>En-route charging features:</a:t>
            </a:r>
          </a:p>
          <a:p>
            <a:r>
              <a:rPr lang="en-US" sz="900" dirty="0">
                <a:solidFill>
                  <a:srgbClr val="373737"/>
                </a:solidFill>
                <a:latin typeface="Consolas"/>
              </a:rPr>
              <a:t>  - DCFC preferred, L2 fallback only when no DCFC on route</a:t>
            </a:r>
          </a:p>
          <a:p>
            <a:r>
              <a:rPr lang="en-US" sz="900" dirty="0">
                <a:solidFill>
                  <a:srgbClr val="373737"/>
                </a:solidFill>
                <a:latin typeface="Consolas"/>
              </a:rPr>
              <a:t>  - Dynamic duration from remaining distance x consumption rate</a:t>
            </a:r>
          </a:p>
          <a:p>
            <a:r>
              <a:rPr lang="en-US" sz="900" dirty="0">
                <a:solidFill>
                  <a:srgbClr val="373737"/>
                </a:solidFill>
                <a:latin typeface="Consolas"/>
              </a:rPr>
              <a:t>  - Risk-based charger selection:</a:t>
            </a:r>
          </a:p>
          <a:p>
            <a:r>
              <a:rPr lang="en-US" sz="900" dirty="0">
                <a:solidFill>
                  <a:srgbClr val="373737"/>
                </a:solidFill>
                <a:latin typeface="Consolas"/>
              </a:rPr>
              <a:t>    risk_averse (16%): earliest 25%, 30% buffer</a:t>
            </a:r>
          </a:p>
          <a:p>
            <a:r>
              <a:rPr lang="en-US" sz="900" dirty="0">
                <a:solidFill>
                  <a:srgbClr val="373737"/>
                </a:solidFill>
                <a:latin typeface="Consolas"/>
              </a:rPr>
              <a:t>    moderate (48%): middle 50%, 15% buffer</a:t>
            </a:r>
          </a:p>
          <a:p>
            <a:r>
              <a:rPr lang="en-US" sz="900" dirty="0">
                <a:solidFill>
                  <a:srgbClr val="373737"/>
                </a:solidFill>
                <a:latin typeface="Consolas"/>
              </a:rPr>
              <a:t>    risk_neutral (36%): latest 25%, 5% buffer</a:t>
            </a:r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00000" y="150000"/>
            <a:ext cx="8344000" cy="500000"/>
          </a:xfrm>
          <a:prstGeom prst="rect">
            <a:avLst/>
          </a:prstGeom>
        </p:spPr>
        <p:txBody>
          <a:bodyPr/>
          <a:lstStyle/>
          <a:p>
            <a:r>
              <a:rPr lang="en-US" sz="2200" b="1" dirty="0">
                <a:solidFill>
                  <a:srgbClr val="2196F3"/>
                </a:solidFill>
                <a:latin typeface="Calibri"/>
              </a:rPr>
              <a:t>Stuck Agents (Network Performance)</a:t>
            </a:r>
          </a:p>
        </p:txBody>
      </p:sp>
      <p:sp>
        <p:nvSpPr>
          <p:cNvPr id="3" name="Sub"/>
          <p:cNvSpPr/>
          <p:nvPr/>
        </p:nvSpPr>
        <p:spPr>
          <a:xfrm>
            <a:off x="400000" y="620000"/>
            <a:ext cx="8344000" cy="250000"/>
          </a:xfrm>
          <a:prstGeom prst="rect">
            <a:avLst/>
          </a:prstGeom>
        </p:spPr>
        <p:txBody>
          <a:bodyPr/>
          <a:lstStyle/>
          <a:p>
            <a:r>
              <a:rPr lang="en-US" sz="1000" dirty="0">
                <a:solidFill>
                  <a:srgbClr val="777777"/>
                </a:solidFill>
                <a:latin typeface="Calibri"/>
              </a:rPr>
              <a:t>Queue traffic dynamics eliminated the 95% stuck rate from kinematic waves</a:t>
            </a:r>
          </a:p>
        </p:txBody>
      </p:sp>
      <p:sp>
        <p:nvSpPr>
          <p:cNvPr id="4" name="Body"/>
          <p:cNvSpPr/>
          <p:nvPr/>
        </p:nvSpPr>
        <p:spPr>
          <a:xfrm>
            <a:off x="400000" y="900000"/>
            <a:ext cx="8344000" cy="4000000"/>
          </a:xfrm>
          <a:prstGeom prst="rect">
            <a:avLst/>
          </a:prstGeom>
        </p:spPr>
        <p:txBody>
          <a:bodyPr wrap="square" lIns="0" tIns="0" rIns="0" bIns="0"/>
          <a:lstStyle/>
          <a:p>
            <a:r>
              <a:rPr lang="en-US" sz="900" dirty="0">
                <a:solidFill>
                  <a:srgbClr val="373737"/>
                </a:solidFill>
                <a:latin typeface="Consolas"/>
              </a:rPr>
              <a:t>Iter   Stuck Agents   % of 130,837</a:t>
            </a:r>
          </a:p>
          <a:p>
            <a:r>
              <a:rPr lang="en-US" sz="900" dirty="0">
                <a:solidFill>
                  <a:srgbClr val="373737"/>
                </a:solidFill>
                <a:latin typeface="Consolas"/>
              </a:rPr>
              <a:t>----------------------------------------</a:t>
            </a:r>
          </a:p>
          <a:p>
            <a:r>
              <a:rPr lang="en-US" sz="900" dirty="0">
                <a:solidFill>
                  <a:srgbClr val="373737"/>
                </a:solidFill>
                <a:latin typeface="Consolas"/>
              </a:rPr>
              <a:t/>
            </a:r>
          </a:p>
          <a:p>
            <a:r>
              <a:rPr lang="en-US" sz="900" dirty="0">
                <a:solidFill>
                  <a:srgbClr val="373737"/>
                </a:solidFill>
                <a:latin typeface="Consolas"/>
              </a:rPr>
              <a:t>Traffic dynamics: queue (fixes kinematic wave short-link gridlock)</a:t>
            </a:r>
          </a:p>
          <a:p>
            <a:r>
              <a:rPr lang="en-US" sz="900" dirty="0">
                <a:solidFill>
                  <a:srgbClr val="373737"/>
                </a:solidFill>
                <a:latin typeface="Consolas"/>
              </a:rPr>
              <a:t>flowCapacityFactor: 1.0 | storageCapacityFactor: 1.0</a:t>
            </a:r>
          </a:p>
          <a:p>
            <a:r>
              <a:rPr lang="en-US" sz="900" dirty="0">
                <a:solidFill>
                  <a:srgbClr val="373737"/>
                </a:solidFill>
                <a:latin typeface="Consolas"/>
              </a:rPr>
              <a:t>stuckTime: 900s | removeStuckVehicles: true</a:t>
            </a:r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00000" y="150000"/>
            <a:ext cx="8344000" cy="500000"/>
          </a:xfrm>
          <a:prstGeom prst="rect">
            <a:avLst/>
          </a:prstGeom>
        </p:spPr>
        <p:txBody>
          <a:bodyPr/>
          <a:lstStyle/>
          <a:p>
            <a:r>
              <a:rPr lang="en-US" sz="2200" b="1" dirty="0">
                <a:solidFill>
                  <a:srgbClr val="FF9800"/>
                </a:solidFill>
                <a:latin typeface="Calibri"/>
              </a:rPr>
              <a:t>Charging Infrastructure Performance</a:t>
            </a:r>
          </a:p>
        </p:txBody>
      </p:sp>
      <p:sp>
        <p:nvSpPr>
          <p:cNvPr id="3" name="Sub"/>
          <p:cNvSpPr/>
          <p:nvPr/>
        </p:nvSpPr>
        <p:spPr>
          <a:xfrm>
            <a:off x="400000" y="620000"/>
            <a:ext cx="8344000" cy="250000"/>
          </a:xfrm>
          <a:prstGeom prst="rect">
            <a:avLst/>
          </a:prstGeom>
        </p:spPr>
        <p:txBody>
          <a:bodyPr/>
          <a:lstStyle/>
          <a:p>
            <a:r>
              <a:rPr lang="en-US" sz="1000" dirty="0">
                <a:solidFill>
                  <a:srgbClr val="777777"/>
                </a:solidFill>
                <a:latin typeface="Calibri"/>
              </a:rPr>
              <a:t>Workplace competition, charger reliability, and infrastructure gaps</a:t>
            </a:r>
          </a:p>
        </p:txBody>
      </p:sp>
      <p:sp>
        <p:nvSpPr>
          <p:cNvPr id="4" name="Body"/>
          <p:cNvSpPr/>
          <p:nvPr/>
        </p:nvSpPr>
        <p:spPr>
          <a:xfrm>
            <a:off x="400000" y="900000"/>
            <a:ext cx="8344000" cy="4000000"/>
          </a:xfrm>
          <a:prstGeom prst="rect">
            <a:avLst/>
          </a:prstGeom>
        </p:spPr>
        <p:txBody>
          <a:bodyPr wrap="square" lIns="0" tIns="0" rIns="0" bIns="0"/>
          <a:lstStyle/>
          <a:p>
            <a:r>
              <a:rPr lang="en-US" sz="900" dirty="0">
                <a:solidFill>
                  <a:srgbClr val="373737"/>
                </a:solidFill>
                <a:latin typeface="Consolas"/>
              </a:rPr>
              <a:t>Workplace Charging</a:t>
            </a:r>
          </a:p>
          <a:p>
            <a:r>
              <a:rPr lang="en-US" sz="900" dirty="0">
                <a:solidFill>
                  <a:srgbClr val="373737"/>
                </a:solidFill>
                <a:latin typeface="Consolas"/>
              </a:rPr>
              <a:t>  MobsimScopeEventHandling:224 Workplace charging: created 2989 shared charger pools (ratio 1:5) from 11537 EV workers</a:t>
            </a:r>
          </a:p>
          <a:p>
            <a:r>
              <a:rPr lang="en-US" sz="900" dirty="0">
                <a:solidFill>
                  <a:srgbClr val="373737"/>
                </a:solidFill>
                <a:latin typeface="Consolas"/>
              </a:rPr>
              <a:t/>
            </a:r>
          </a:p>
          <a:p>
            <a:r>
              <a:rPr lang="en-US" sz="900" dirty="0">
                <a:solidFill>
                  <a:srgbClr val="373737"/>
                </a:solidFill>
                <a:latin typeface="Consolas"/>
              </a:rPr>
              <a:t>Charger Reliability (per iteration)</a:t>
            </a:r>
          </a:p>
          <a:p>
            <a:r>
              <a:rPr lang="en-US" sz="900" dirty="0">
                <a:solidFill>
                  <a:srgbClr val="373737"/>
                </a:solidFill>
                <a:latin typeface="Consolas"/>
              </a:rPr>
              <a:t>  ChargerReliabilityManager:109 ChargerReliability: iteration 0  914/9789 plugs disabled (9.3%), 273 chargers fully offline</a:t>
            </a:r>
          </a:p>
          <a:p>
            <a:r>
              <a:rPr lang="en-US" sz="900" dirty="0">
                <a:solidFill>
                  <a:srgbClr val="373737"/>
                </a:solidFill>
                <a:latin typeface="Consolas"/>
              </a:rPr>
              <a:t>  ChargerReliabilityManager:109 ChargerReliability: iteration 1  907/9789 plugs disabled (9.3%), 283 chargers fully offline</a:t>
            </a:r>
          </a:p>
          <a:p>
            <a:r>
              <a:rPr lang="en-US" sz="900" dirty="0">
                <a:solidFill>
                  <a:srgbClr val="373737"/>
                </a:solidFill>
                <a:latin typeface="Consolas"/>
              </a:rPr>
              <a:t>  ChargerReliabilityManager:109 ChargerReliability: iteration 2  944/9789 plugs disabled (9.6%), 273 chargers fully offline</a:t>
            </a:r>
          </a:p>
          <a:p>
            <a:r>
              <a:rPr lang="en-US" sz="900" dirty="0">
                <a:solidFill>
                  <a:srgbClr val="373737"/>
                </a:solidFill>
                <a:latin typeface="Consolas"/>
              </a:rPr>
              <a:t>  ChargerReliabilityManager:109 ChargerReliability: iteration 3  938/9789 plugs disabled (9.6%), 258 chargers fully offline</a:t>
            </a:r>
          </a:p>
          <a:p>
            <a:r>
              <a:rPr lang="en-US" sz="900" dirty="0">
                <a:solidFill>
                  <a:srgbClr val="373737"/>
                </a:solidFill>
                <a:latin typeface="Consolas"/>
              </a:rPr>
              <a:t>  ChargerReliabilityManager:109 ChargerReliability: iteration 4  903/9789 plugs disabled (9.2%), 215 chargers fully offline</a:t>
            </a:r>
          </a:p>
          <a:p>
            <a:r>
              <a:rPr lang="en-US" sz="900" dirty="0">
                <a:solidFill>
                  <a:srgbClr val="373737"/>
                </a:solidFill>
                <a:latin typeface="Consolas"/>
              </a:rPr>
              <a:t/>
            </a:r>
          </a:p>
          <a:p>
            <a:r>
              <a:rPr lang="en-US" sz="900" dirty="0">
                <a:solidFill>
                  <a:srgbClr val="373737"/>
                </a:solidFill>
                <a:latin typeface="Consolas"/>
              </a:rPr>
              <a:t>Charger Errors</a:t>
            </a:r>
          </a:p>
          <a:p>
            <a:r>
              <a:rPr lang="en-US" sz="900" dirty="0">
                <a:solidFill>
                  <a:srgbClr val="373737"/>
                </a:solidFill>
                <a:latin typeface="Consolas"/>
              </a:rPr>
              <a:t>  No charger found: 53,982 total across all iterations</a:t>
            </a:r>
          </a:p>
          <a:p>
            <a:r>
              <a:rPr lang="en-US" sz="900" dirty="0">
                <a:solidFill>
                  <a:srgbClr val="373737"/>
                </a:solidFill>
                <a:latin typeface="Consolas"/>
              </a:rPr>
              <a:t>  Charger full retries: 0</a:t>
            </a:r>
          </a:p>
          <a:p>
            <a:r>
              <a:rPr lang="en-US" sz="900" dirty="0">
                <a:solidFill>
                  <a:srgbClr val="373737"/>
                </a:solidFill>
                <a:latin typeface="Consolas"/>
              </a:rPr>
              <a:t/>
            </a:r>
          </a:p>
          <a:p>
            <a:r>
              <a:rPr lang="en-US" sz="900" dirty="0">
                <a:solidFill>
                  <a:srgbClr val="373737"/>
                </a:solidFill>
                <a:latin typeface="Consolas"/>
              </a:rPr>
              <a:t>Public chargers: 1,607 L2 + 283 DCFC + 68 DCFC_TESLA = 1,958 total</a:t>
            </a:r>
          </a:p>
          <a:p>
            <a:r>
              <a:rPr lang="en-US" sz="900" dirty="0">
                <a:solidFill>
                  <a:srgbClr val="373737"/>
                </a:solidFill>
                <a:latin typeface="Consolas"/>
              </a:rPr>
              <a:t>Home chargers: 76,787 L2 + 29,333 L1 = 106,120 agents with home charging</a:t>
            </a:r>
          </a:p>
          <a:p>
            <a:r>
              <a:rPr lang="en-US" sz="900" dirty="0">
                <a:solidFill>
                  <a:srgbClr val="373737"/>
                </a:solidFill>
                <a:latin typeface="Consolas"/>
              </a:rPr>
              <a:t>Workplace pools: 2,989 shared charger pools (1:5 ratio)</a:t>
            </a:r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00000" y="150000"/>
            <a:ext cx="8344000" cy="500000"/>
          </a:xfrm>
          <a:prstGeom prst="rect">
            <a:avLst/>
          </a:prstGeom>
        </p:spPr>
        <p:txBody>
          <a:bodyPr/>
          <a:lstStyle/>
          <a:p>
            <a:r>
              <a:rPr lang="en-US" sz="2200" b="1" dirty="0">
                <a:solidFill>
                  <a:srgbClr val="4CAF50"/>
                </a:solidFill>
                <a:latin typeface="Calibri"/>
              </a:rPr>
              <a:t>Summary — After Iteration 5</a:t>
            </a:r>
          </a:p>
        </p:txBody>
      </p:sp>
      <p:sp>
        <p:nvSpPr>
          <p:cNvPr id="3" name="Sub"/>
          <p:cNvSpPr/>
          <p:nvPr/>
        </p:nvSpPr>
        <p:spPr>
          <a:xfrm>
            <a:off x="400000" y="620000"/>
            <a:ext cx="8344000" cy="250000"/>
          </a:xfrm>
          <a:prstGeom prst="rect">
            <a:avLst/>
          </a:prstGeom>
        </p:spPr>
        <p:txBody>
          <a:bodyPr/>
          <a:lstStyle/>
          <a:p>
            <a:r>
              <a:rPr lang="en-US" sz="1000" dirty="0">
                <a:solidFill>
                  <a:srgbClr val="777777"/>
                </a:solidFill>
                <a:latin typeface="Calibri"/>
              </a:rPr>
              <a:t>Auto-updated | github.com/Tomal121186621/UrbanEV-MATSim-Maryland</a:t>
            </a:r>
          </a:p>
        </p:txBody>
      </p:sp>
      <p:sp>
        <p:nvSpPr>
          <p:cNvPr id="4" name="Body"/>
          <p:cNvSpPr/>
          <p:nvPr/>
        </p:nvSpPr>
        <p:spPr>
          <a:xfrm>
            <a:off x="400000" y="900000"/>
            <a:ext cx="8344000" cy="4000000"/>
          </a:xfrm>
          <a:prstGeom prst="rect">
            <a:avLst/>
          </a:prstGeom>
        </p:spPr>
        <p:txBody>
          <a:bodyPr wrap="square" lIns="0" tIns="0" rIns="0" bIns="0"/>
          <a:lstStyle/>
          <a:p>
            <a:r>
              <a:rPr lang="en-US" sz="900" dirty="0">
                <a:solidFill>
                  <a:srgbClr val="373737"/>
                </a:solidFill>
                <a:latin typeface="Consolas"/>
              </a:rPr>
              <a:t>Simulation Progress: 6 of 30 iterations complete</a:t>
            </a:r>
          </a:p>
          <a:p>
            <a:r>
              <a:rPr lang="en-US" sz="900" dirty="0">
                <a:solidFill>
                  <a:srgbClr val="373737"/>
                </a:solidFill>
                <a:latin typeface="Consolas"/>
              </a:rPr>
              <a:t/>
            </a:r>
          </a:p>
          <a:p>
            <a:r>
              <a:rPr lang="en-US" sz="900" dirty="0">
                <a:solidFill>
                  <a:srgbClr val="373737"/>
                </a:solidFill>
                <a:latin typeface="Consolas"/>
              </a:rPr>
              <a:t>Key Metrics (latest iteration):</a:t>
            </a:r>
          </a:p>
          <a:p>
            <a:r>
              <a:rPr lang="en-US" sz="900" dirty="0">
                <a:solidFill>
                  <a:srgbClr val="373737"/>
                </a:solidFill>
                <a:latin typeface="Consolas"/>
              </a:rPr>
              <a:t>  Avg executed score: -5.494</a:t>
            </a:r>
          </a:p>
          <a:p>
            <a:r>
              <a:rPr lang="en-US" sz="900" dirty="0">
                <a:solidFill>
                  <a:srgbClr val="373737"/>
                </a:solidFill>
                <a:latin typeface="Consolas"/>
              </a:rPr>
              <a:t>  Avg best score: -0.180</a:t>
            </a:r>
          </a:p>
          <a:p>
            <a:r>
              <a:rPr lang="en-US" sz="900" dirty="0">
                <a:solidFill>
                  <a:srgbClr val="373737"/>
                </a:solidFill>
                <a:latin typeface="Consolas"/>
              </a:rPr>
              <a:t>  SoC problems: 25,322</a:t>
            </a:r>
          </a:p>
          <a:p>
            <a:r>
              <a:rPr lang="en-US" sz="900" dirty="0">
                <a:solidFill>
                  <a:srgbClr val="373737"/>
                </a:solidFill>
                <a:latin typeface="Consolas"/>
              </a:rPr>
              <a:t>  En-route insertions: 30,660</a:t>
            </a:r>
          </a:p>
          <a:p>
            <a:r>
              <a:rPr lang="en-US" sz="900" dirty="0">
                <a:solidFill>
                  <a:srgbClr val="373737"/>
                </a:solidFill>
                <a:latin typeface="Consolas"/>
              </a:rPr>
              <a:t>  Home sessions: 40,036</a:t>
            </a:r>
          </a:p>
          <a:p>
            <a:r>
              <a:rPr lang="en-US" sz="900" dirty="0">
                <a:solidFill>
                  <a:srgbClr val="373737"/>
                </a:solidFill>
                <a:latin typeface="Consolas"/>
              </a:rPr>
              <a:t/>
            </a:r>
          </a:p>
          <a:p>
            <a:r>
              <a:rPr lang="en-US" sz="900" dirty="0">
                <a:solidFill>
                  <a:srgbClr val="373737"/>
                </a:solidFill>
                <a:latin typeface="Consolas"/>
              </a:rPr>
              <a:t>Features Active:</a:t>
            </a:r>
          </a:p>
          <a:p>
            <a:r>
              <a:rPr lang="en-US" sz="900" dirty="0">
                <a:solidFill>
                  <a:srgbClr val="373737"/>
                </a:solidFill>
                <a:latin typeface="Consolas"/>
              </a:rPr>
              <a:t>  [x] PHEV gas fallback (40K PHEV agents)</a:t>
            </a:r>
          </a:p>
          <a:p>
            <a:r>
              <a:rPr lang="en-US" sz="900" dirty="0">
                <a:solidFill>
                  <a:srgbClr val="373737"/>
                </a:solidFill>
                <a:latin typeface="Consolas"/>
              </a:rPr>
              <a:t>  [x] Multi-day SoC persistence + overnight charging</a:t>
            </a:r>
          </a:p>
          <a:p>
            <a:r>
              <a:rPr lang="en-US" sz="900" dirty="0">
                <a:solidFill>
                  <a:srgbClr val="373737"/>
                </a:solidFill>
                <a:latin typeface="Consolas"/>
              </a:rPr>
              <a:t>  [x] Workplace charger competition (1:5 ratio)</a:t>
            </a:r>
          </a:p>
          <a:p>
            <a:r>
              <a:rPr lang="en-US" sz="900" dirty="0">
                <a:solidFill>
                  <a:srgbClr val="373737"/>
                </a:solidFill>
                <a:latin typeface="Consolas"/>
              </a:rPr>
              <a:t>  [x] Cost-aware charging (softmax weighted)</a:t>
            </a:r>
          </a:p>
          <a:p>
            <a:r>
              <a:rPr lang="en-US" sz="900" dirty="0">
                <a:solidFill>
                  <a:srgbClr val="373737"/>
                </a:solidFill>
                <a:latin typeface="Consolas"/>
              </a:rPr>
              <a:t>  [x] Charger reliability (80% DCFC, 92% L2)</a:t>
            </a:r>
          </a:p>
          <a:p>
            <a:r>
              <a:rPr lang="en-US" sz="900" dirty="0">
                <a:solidFill>
                  <a:srgbClr val="373737"/>
                </a:solidFill>
                <a:latin typeface="Consolas"/>
              </a:rPr>
              <a:t>  [x] Dynamic en-route charging (DCFC preferred)</a:t>
            </a:r>
          </a:p>
          <a:p>
            <a:r>
              <a:rPr lang="en-US" sz="900" dirty="0">
                <a:solidFill>
                  <a:srgbClr val="373737"/>
                </a:solidFill>
                <a:latin typeface="Consolas"/>
              </a:rPr>
              <a:t>  [x] Research-backed scoring calibration (8 params)</a:t>
            </a:r>
          </a:p>
        </p:txBody>
      </p:sp>
    </p:spTree>
  </p:cSld>
</p:sld>
</file>

<file path=ppt/theme/theme1.xml><?xml version="1.0" encoding="utf-8"?>
<a:theme xmlns:a="http://schemas.openxmlformats.org/drawingml/2006/main" name="Results">
  <a:themeElements>
    <a:clrScheme name="Results">
      <a:dk1>
        <a:srgbClr val="1A1A2E"/>
      </a:dk1>
      <a:lt1>
        <a:srgbClr val="FFFFFF"/>
      </a:lt1>
      <a:dk2>
        <a:srgbClr val="373737"/>
      </a:dk2>
      <a:lt2>
        <a:srgbClr val="F5F5F5"/>
      </a:lt2>
      <a:accent1>
        <a:srgbClr val="2196F3"/>
      </a:accent1>
      <a:accent2>
        <a:srgbClr val="4CAF50"/>
      </a:accent2>
      <a:accent3>
        <a:srgbClr val="FF9800"/>
      </a:accent3>
      <a:accent4>
        <a:srgbClr val="E91E63"/>
      </a:accent4>
      <a:accent5>
        <a:srgbClr val="673AB7"/>
      </a:accent5>
      <a:accent6>
        <a:srgbClr val="009688"/>
      </a:accent6>
      <a:hlink>
        <a:srgbClr val="0563C1"/>
      </a:hlink>
      <a:folHlink>
        <a:srgbClr val="954F72"/>
      </a:folHlink>
    </a:clrScheme>
    <a:fontScheme name="Results">
      <a:majorFont>
        <a:latin typeface="Calibri"/>
      </a:majorFont>
      <a:minorFont>
        <a:latin typeface="Calibri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