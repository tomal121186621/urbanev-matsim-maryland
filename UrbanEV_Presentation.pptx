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theme" Target="theme/theme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00000" y="200000"/>
            <a:ext cx="8344000" cy="600000"/>
          </a:xfrm>
          <a:prstGeom prst="rect">
            <a:avLst/>
          </a:prstGeom>
        </p:spPr>
        <p:txBody>
          <a:bodyPr/>
          <a:lstStyle/>
          <a:p>
            <a:r>
              <a:rPr lang="en-US" sz="2400" b="1" dirty="0">
                <a:solidFill>
                  <a:srgbClr val="FFFFFF"/>
                </a:solidFill>
                <a:latin typeface="Calibri"/>
              </a:rPr>
              <a:t>UrbanEV-v2: Agent-Based EV Charging
Simulation for Maryland + DC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400000" y="750000"/>
            <a:ext cx="8344000" cy="300000"/>
          </a:xfrm>
          <a:prstGeom prst="rect">
            <a:avLst/>
          </a:prstGeom>
        </p:spPr>
        <p:txBody>
          <a:bodyPr/>
          <a:lstStyle/>
          <a:p>
            <a:r>
              <a:rPr lang="en-US" sz="1100" dirty="0">
                <a:solidFill>
                  <a:srgbClr val="B4B4DC"/>
                </a:solidFill>
                <a:latin typeface="Calibri"/>
              </a:rPr>
              <a:t>Enhanced MATSim Framework with PHEV Support,
Dynamic En-Route Charging, and Equity Analysis</a:t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00000" y="1050000"/>
            <a:ext cx="8344000" cy="390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1000" dirty="0">
                <a:solidFill>
                  <a:srgbClr val="B4B4DC"/>
                </a:solidFill>
                <a:latin typeface="Consolas"/>
              </a:rPr>
              <a:t>130,837 EV Agents  |  9.8M Link Network  |  1,958 Chargers  |  EPSG:26985</a:t>
            </a:r>
          </a:p>
          <a:p>
            <a:r>
              <a:rPr lang="en-US" sz="1000" dirty="0">
                <a:solidFill>
                  <a:srgbClr val="B4B4DC"/>
                </a:solidFill>
                <a:latin typeface="Consolas"/>
              </a:rPr>
              <a:t>University of Maryland  |  2025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00000" y="200000"/>
            <a:ext cx="8344000" cy="600000"/>
          </a:xfrm>
          <a:prstGeom prst="rect">
            <a:avLst/>
          </a:prstGeom>
        </p:spPr>
        <p:txBody>
          <a:bodyPr/>
          <a:lstStyle/>
          <a:p>
            <a:r>
              <a:rPr lang="en-US" sz="2400" b="1" dirty="0">
                <a:solidFill>
                  <a:srgbClr val="1A1A2E"/>
                </a:solidFill>
                <a:latin typeface="Calibri"/>
              </a:rPr>
              <a:t>Original UrbanEV-v2 Framework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400000" y="750000"/>
            <a:ext cx="8344000" cy="300000"/>
          </a:xfrm>
          <a:prstGeom prst="rect">
            <a:avLst/>
          </a:prstGeom>
        </p:spPr>
        <p:txBody>
          <a:bodyPr/>
          <a:lstStyle/>
          <a:p>
            <a:r>
              <a:rPr lang="en-US" sz="1100" dirty="0">
                <a:solidFill>
                  <a:srgbClr val="777777"/>
                </a:solidFill>
                <a:latin typeface="Calibri"/>
              </a:rPr>
              <a:t>Developed by TU Munich / Chalmers / Gothenburg (Adenaw et al., 2020)</a:t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00000" y="1050000"/>
            <a:ext cx="8344000" cy="390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Core Architecture (MATSim 12.0 Extension)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Agent-based co-evolutionary learning (plan selection + mutation)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QSim traffic simulation with EV battery discharge model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Charger infrastructure with plug-level queue management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Variable-speed charging curves (Tesla, Leaf, generic profiles)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Original Scoring Function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Range anxiety: penalty when SoC &lt; threshold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Empty battery: severe penalty at SoC = 0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Walking distance: exponential decay to charger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Home charging bonus: reward for using home charger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Energy balance: penalty if end-of-day SoC &lt; start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Original Strategies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ChangeChargingBehaviour: add/remove/move charging at destinations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SelectExpBeta: probabilistic plan selection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Two subpopulations: nonCriticalSOC / criticalSOC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00000" y="200000"/>
            <a:ext cx="8344000" cy="600000"/>
          </a:xfrm>
          <a:prstGeom prst="rect">
            <a:avLst/>
          </a:prstGeom>
        </p:spPr>
        <p:txBody>
          <a:bodyPr/>
          <a:lstStyle/>
          <a:p>
            <a:r>
              <a:rPr lang="en-US" sz="2400" b="1" dirty="0">
                <a:solidFill>
                  <a:srgbClr val="E91E63"/>
                </a:solidFill>
                <a:latin typeface="Calibri"/>
              </a:rPr>
              <a:t>Limitations of Original UrbanEV-v2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400000" y="750000"/>
            <a:ext cx="8344000" cy="300000"/>
          </a:xfrm>
          <a:prstGeom prst="rect">
            <a:avLst/>
          </a:prstGeom>
        </p:spPr>
        <p:txBody>
          <a:bodyPr/>
          <a:lstStyle/>
          <a:p>
            <a:r>
              <a:rPr lang="en-US" sz="1100" dirty="0">
                <a:solidFill>
                  <a:srgbClr val="777777"/>
                </a:solidFill>
                <a:latin typeface="Calibri"/>
              </a:rPr>
              <a:t/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00000" y="1050000"/>
            <a:ext cx="8344000" cy="390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1. No En-Route Charging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 Agents could only charge at destinations they already visited.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 No mid-trip DCFC stops for long-distance trips.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2. No PHEV Support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 All EVs treated as battery-only. PHEVs strand when battery depleted.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3. No Multi-Day SoC Persistence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 Battery state reset each iteration. No overnight charging model.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4. No Charging Cost Differentiation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 Flat pricing, no power-tier pricing, no time-of-use awareness.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5. Single-Thread Performance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 parallelEventHandling forced to 1 thread. Dijkstra routing.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6. No Charger Reliability / Workplace Competition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 All chargers 100% available. Private per-agent work chargers.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00000" y="200000"/>
            <a:ext cx="8344000" cy="600000"/>
          </a:xfrm>
          <a:prstGeom prst="rect">
            <a:avLst/>
          </a:prstGeom>
        </p:spPr>
        <p:txBody>
          <a:bodyPr/>
          <a:lstStyle/>
          <a:p>
            <a:r>
              <a:rPr lang="en-US" sz="2400" b="1" dirty="0">
                <a:solidFill>
                  <a:srgbClr val="4CAF50"/>
                </a:solidFill>
                <a:latin typeface="Calibri"/>
              </a:rPr>
              <a:t>Our Contributions: 12 Major Enhancements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400000" y="750000"/>
            <a:ext cx="8344000" cy="300000"/>
          </a:xfrm>
          <a:prstGeom prst="rect">
            <a:avLst/>
          </a:prstGeom>
        </p:spPr>
        <p:txBody>
          <a:bodyPr/>
          <a:lstStyle/>
          <a:p>
            <a:r>
              <a:rPr lang="en-US" sz="1100" dirty="0">
                <a:solidFill>
                  <a:srgbClr val="777777"/>
                </a:solidFill>
                <a:latin typeface="Calibri"/>
              </a:rPr>
              <a:t/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00000" y="1050000"/>
            <a:ext cx="8344000" cy="390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New Simulation Features (Java)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1. InsertEnRouteCharging strategy (DCFC preference, dynamic duration)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2. PHEV gas fallback (CD/CS mode at 15% SoC)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3. Multi-day SoC persistence with overnight home charging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4. Workplace charger competition (shared pools, 1:5 ratio)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5. Charging cost awareness (softmax cost-weighted selection)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6. Charger reliability/downtime (80% DCFC, 92% L2 uptime)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Scoring Calibration (Literature-Backed)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7. betaMoney: sqrt income elasticity (Kickhofer et al. 2011)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8. emptyBatteryUtility: -15 to -40 (NREL BEAM)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9. homeChargingUtility: +1 to +2.5 (Ge et al. 2023)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10. Walking disutility recalibration (Geurs &amp; van Wee 2004)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Performance &amp; Infrastructure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11. FastAStarLandmarks + 14 parallel threads (100x speedup)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12. Queue traffic dynamics (fixes 95% stuck agent rate)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00000" y="200000"/>
            <a:ext cx="8344000" cy="600000"/>
          </a:xfrm>
          <a:prstGeom prst="rect">
            <a:avLst/>
          </a:prstGeom>
        </p:spPr>
        <p:txBody>
          <a:bodyPr/>
          <a:lstStyle/>
          <a:p>
            <a:r>
              <a:rPr lang="en-US" sz="2400" b="1" dirty="0">
                <a:solidFill>
                  <a:srgbClr val="673AB7"/>
                </a:solidFill>
                <a:latin typeface="Calibri"/>
              </a:rPr>
              <a:t>Feature 1: Dynamic En-Route Charging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400000" y="750000"/>
            <a:ext cx="8344000" cy="300000"/>
          </a:xfrm>
          <a:prstGeom prst="rect">
            <a:avLst/>
          </a:prstGeom>
        </p:spPr>
        <p:txBody>
          <a:bodyPr/>
          <a:lstStyle/>
          <a:p>
            <a:r>
              <a:rPr lang="en-US" sz="1100" dirty="0">
                <a:solidFill>
                  <a:srgbClr val="777777"/>
                </a:solidFill>
                <a:latin typeface="Calibri"/>
              </a:rPr>
              <a:t/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00000" y="1050000"/>
            <a:ext cx="8344000" cy="390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Problem: Agents with long trips run out of battery mid-drive.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Our Solution: InsertEnRouteChargingModule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Pipeline per agent: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1. SocProblemCollector records agents with SoC &lt; threshold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2. Find the car leg where battery depleted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3. Scan route for chargers (DCFC preferred, L2 fallback)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4. Select charger based on risk attitude: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   risk_averse: earliest 25% | moderate: middle 50% | risk_neutral: latest 25%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5. Dynamic duration from remaining distance + energy need + safety buffer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6. Split leg: [drive] -&gt; [charge at DCFC] -&gt; [drive]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Results: 5,054 insertions in iteration 1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85% DCFC, 15% L2 fallback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Duration: 5 min (quick top-up) to 22 min (long trip)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00000" y="200000"/>
            <a:ext cx="8344000" cy="600000"/>
          </a:xfrm>
          <a:prstGeom prst="rect">
            <a:avLst/>
          </a:prstGeom>
        </p:spPr>
        <p:txBody>
          <a:bodyPr/>
          <a:lstStyle/>
          <a:p>
            <a:r>
              <a:rPr lang="en-US" sz="2400" b="1" dirty="0">
                <a:solidFill>
                  <a:srgbClr val="673AB7"/>
                </a:solidFill>
                <a:latin typeface="Calibri"/>
              </a:rPr>
              <a:t>Features 2-3: PHEV Gas Fallback + SoC Persistence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400000" y="750000"/>
            <a:ext cx="8344000" cy="300000"/>
          </a:xfrm>
          <a:prstGeom prst="rect">
            <a:avLst/>
          </a:prstGeom>
        </p:spPr>
        <p:txBody>
          <a:bodyPr/>
          <a:lstStyle/>
          <a:p>
            <a:r>
              <a:rPr lang="en-US" sz="1100" dirty="0">
                <a:solidFill>
                  <a:srgbClr val="777777"/>
                </a:solidFill>
                <a:latin typeface="Calibri"/>
              </a:rPr>
              <a:t/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00000" y="1050000"/>
            <a:ext cx="8344000" cy="390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PHEV Gas Fallback (Axsen et al. 2020; Raghavan &amp; Tal 2020)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PHEVs switch to gasoline at 15% SoC (configurable)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Gasoline consumption: energy / (34.2 MJ/L x 0.30 efficiency)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- 40K PHEV agents (30% of fleet) now behave realistically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Multi-Day SoC Persistence (Baum et al. 2022)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End-of-iteration SoC carried to next iteration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Overnight home charging model (NREL 2023; INL 2015):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  SoC-dependent plug-in probability: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    &lt;30%: 95% | 30-50%: 85% | 50-70%: 65% | &gt;90%: 10%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  Produces 72% nightly plug-in rate (matches INL 70-75%)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  Target SoC: Tesla 80%(60%)/90%(25%)/100%(15%)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  Non-Tesla: 80%(40%)/90%(25%)/100%(35%) | PHEV: 100%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  L1 max 11 kWh | L2 max 58 kWh overnight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  No-home-charger agents (19%): no overnight recovery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00000" y="200000"/>
            <a:ext cx="8344000" cy="600000"/>
          </a:xfrm>
          <a:prstGeom prst="rect">
            <a:avLst/>
          </a:prstGeom>
        </p:spPr>
        <p:txBody>
          <a:bodyPr/>
          <a:lstStyle/>
          <a:p>
            <a:r>
              <a:rPr lang="en-US" sz="2400" b="1" dirty="0">
                <a:solidFill>
                  <a:srgbClr val="673AB7"/>
                </a:solidFill>
                <a:latin typeface="Calibri"/>
              </a:rPr>
              <a:t>Features 4-6: Workplace, Cost Awareness, Reliability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400000" y="750000"/>
            <a:ext cx="8344000" cy="300000"/>
          </a:xfrm>
          <a:prstGeom prst="rect">
            <a:avLst/>
          </a:prstGeom>
        </p:spPr>
        <p:txBody>
          <a:bodyPr/>
          <a:lstStyle/>
          <a:p>
            <a:r>
              <a:rPr lang="en-US" sz="1100" dirty="0">
                <a:solidFill>
                  <a:srgbClr val="777777"/>
                </a:solidFill>
                <a:latin typeface="Calibri"/>
              </a:rPr>
              <a:t/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00000" y="1050000"/>
            <a:ext cx="8344000" cy="390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Workplace Charger Competition (Wood et al. 2018, NREL)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Shared pools: 1 plug per 5 EV workers (replaces per-agent private)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- 2,989 pools from 11,537 EV workers | First-come-first-served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Charging Cost Awareness (Ge et al. 2023; Chakraborty et al. 2020)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Softmax cost-weighted selection: weight = exp(-beta x cost)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Work (free) &gt;&gt; Home ($0.13) &gt;&gt; Public L2 ($0.25) &gt;&gt; DCFC ($0.48)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Charger Reliability (Rempel et al. 2022, NREL TP-5400-83459)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Per-plug stochastic downtime each iteration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DCFC: 80% uptime | L2: 92% uptime | Home: always available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~9% plugs disabled, ~280 chargers offline per iteration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00000" y="200000"/>
            <a:ext cx="8344000" cy="600000"/>
          </a:xfrm>
          <a:prstGeom prst="rect">
            <a:avLst/>
          </a:prstGeom>
        </p:spPr>
        <p:txBody>
          <a:bodyPr/>
          <a:lstStyle/>
          <a:p>
            <a:r>
              <a:rPr lang="en-US" sz="2400" b="1" dirty="0">
                <a:solidFill>
                  <a:srgbClr val="FF9800"/>
                </a:solidFill>
                <a:latin typeface="Calibri"/>
              </a:rPr>
              <a:t>Scoring Parameter Calibration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400000" y="750000"/>
            <a:ext cx="8344000" cy="300000"/>
          </a:xfrm>
          <a:prstGeom prst="rect">
            <a:avLst/>
          </a:prstGeom>
        </p:spPr>
        <p:txBody>
          <a:bodyPr/>
          <a:lstStyle/>
          <a:p>
            <a:r>
              <a:rPr lang="en-US" sz="1100" dirty="0">
                <a:solidFill>
                  <a:srgbClr val="777777"/>
                </a:solidFill>
                <a:latin typeface="Calibri"/>
              </a:rPr>
              <a:t/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00000" y="1050000"/>
            <a:ext cx="8344000" cy="390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Component          Original    Calibrated    Source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-----------------------------------------------------------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Range Anxiety        -5.0        -6.0        Dong &amp; Lin 2020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Empty Battery       -10.0       -40.0        NREL BEAM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Walking Dist.        -1.0        -2.5        Charypar-Nagel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Home Charging        +1.0        +2.5        Ge et al. 2023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Energy Balance      -10.0        -4.0        Baum et al. 2022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Charging Cost       flat      power-tier     MD rates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Detour Time           --        -6.0/hr      Axhausen et al.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Queue Wait            --       VoT x 2.0     Lee &amp; Small 2022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betaMoney Formula (Kickhofer et al. 2011, TRB)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Old: -6.0 x (62500 / income)     range -50 to -1.5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New: -1.0 x sqrt(125000 / income) range -4.1 to -0.5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Reference: $125K (actual median of MD EV agents)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00000" y="200000"/>
            <a:ext cx="8344000" cy="600000"/>
          </a:xfrm>
          <a:prstGeom prst="rect">
            <a:avLst/>
          </a:prstGeom>
        </p:spPr>
        <p:txBody>
          <a:bodyPr/>
          <a:lstStyle/>
          <a:p>
            <a:r>
              <a:rPr lang="en-US" sz="2400" b="1" dirty="0">
                <a:solidFill>
                  <a:srgbClr val="2196F3"/>
                </a:solidFill>
                <a:latin typeface="Calibri"/>
              </a:rPr>
              <a:t>Maryland + DC Data Pipeline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400000" y="750000"/>
            <a:ext cx="8344000" cy="300000"/>
          </a:xfrm>
          <a:prstGeom prst="rect">
            <a:avLst/>
          </a:prstGeom>
        </p:spPr>
        <p:txBody>
          <a:bodyPr/>
          <a:lstStyle/>
          <a:p>
            <a:r>
              <a:rPr lang="en-US" sz="1100" dirty="0">
                <a:solidFill>
                  <a:srgbClr val="777777"/>
                </a:solidFill>
                <a:latin typeface="Calibri"/>
              </a:rPr>
              <a:t/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00000" y="1050000"/>
            <a:ext cx="8344000" cy="390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Input Data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Synthetic population: 19.9M rows, 6.1M persons (BMC v3)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OSM road network: 4.9M nodes, 9.8M links, 284 MB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AFDC chargers: 1,958 (1,607 L2 + 283 DCFC + 68 Tesla)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Household-Level EV Assignment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- 362K has_ev=1 persons -&gt; 142,754 actual EVs (ev_count)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Top drivers per household get EV | Secondary: generic type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Final: 130,837 agents (91K BEV + 40K PHEV)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Derived Attributes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homeChargerPower: f(dwelling, ownership, income)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  59% L2, 22% L1, 19% none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betaMoney: -1.0 x sqrt(125000/income)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rangeAnxietyThreshold: f(income, age) [0.10-0.40]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riskAttitude: neutral/moderate/averse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00000" y="200000"/>
            <a:ext cx="8344000" cy="600000"/>
          </a:xfrm>
          <a:prstGeom prst="rect">
            <a:avLst/>
          </a:prstGeom>
        </p:spPr>
        <p:txBody>
          <a:bodyPr/>
          <a:lstStyle/>
          <a:p>
            <a:r>
              <a:rPr lang="en-US" sz="2400" b="1" dirty="0">
                <a:solidFill>
                  <a:srgbClr val="2196F3"/>
                </a:solidFill>
                <a:latin typeface="Calibri"/>
              </a:rPr>
              <a:t>Performance Optimization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400000" y="750000"/>
            <a:ext cx="8344000" cy="300000"/>
          </a:xfrm>
          <a:prstGeom prst="rect">
            <a:avLst/>
          </a:prstGeom>
        </p:spPr>
        <p:txBody>
          <a:bodyPr/>
          <a:lstStyle/>
          <a:p>
            <a:r>
              <a:rPr lang="en-US" sz="1100" dirty="0">
                <a:solidFill>
                  <a:srgbClr val="777777"/>
                </a:solidFill>
                <a:latin typeface="Calibri"/>
              </a:rPr>
              <a:t/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00000" y="1050000"/>
            <a:ext cx="8344000" cy="390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Bottleneck           Before                After              Speedup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----------------------------------------------------------------------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Routing            Dijkstra (1 thread)   FastAStarLandmarks    ~100x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                                       (14 threads)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PrepareForSim      6.5 sec/person        0.17 sec/person       ~38x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Event handling     1 thread (forced!)     14 threads            ~14x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Traffic dynamics   kinematicWaves         queue                 fixes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                 (95% stuck)            (0.04% stuck)         stuck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Root Causes Found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GotEVMain forced parallelEventHandling to 1 thread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numberOfThreads=0 meant single-threaded, not auto-detect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- 65% of network links &lt; 20m: kinematic wave storage gridlock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SmartChargingScheduler ConcurrentModificationException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Hardware: Ryzen 7 2700X (16 threads), 128 GB RAM, JDK 17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00000" y="200000"/>
            <a:ext cx="8344000" cy="600000"/>
          </a:xfrm>
          <a:prstGeom prst="rect">
            <a:avLst/>
          </a:prstGeom>
        </p:spPr>
        <p:txBody>
          <a:bodyPr/>
          <a:lstStyle/>
          <a:p>
            <a:r>
              <a:rPr lang="en-US" sz="2400" b="1" dirty="0">
                <a:solidFill>
                  <a:srgbClr val="4CAF50"/>
                </a:solidFill>
                <a:latin typeface="Calibri"/>
              </a:rPr>
              <a:t>Agent Population &amp; Equity Profile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400000" y="750000"/>
            <a:ext cx="8344000" cy="300000"/>
          </a:xfrm>
          <a:prstGeom prst="rect">
            <a:avLst/>
          </a:prstGeom>
        </p:spPr>
        <p:txBody>
          <a:bodyPr/>
          <a:lstStyle/>
          <a:p>
            <a:r>
              <a:rPr lang="en-US" sz="1100" dirty="0">
                <a:solidFill>
                  <a:srgbClr val="777777"/>
                </a:solidFill>
                <a:latin typeface="Calibri"/>
              </a:rPr>
              <a:t/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00000" y="1050000"/>
            <a:ext cx="8344000" cy="390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Home Charger Distribution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L2 (7.2 kW): 76,787 (59%) | L1 (1.4 kW): 29,333 (22%) | None: 24,717 (19%)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Per-Component Scoring (Iteration 5)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Agent Group           Score   Empty Battery  Home Bonus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--------------------------------------------------------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Has charger + uses    -0.51      -0.83         +1.07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Has charger, unused   -2.02      -1.05          0.00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NO home charger      -10.46      -7.59         +0.17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Key Equity Findings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No-charger agents score 20x worse than home-charger agents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- 69% of &lt;$25K income agents have no home charger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- 85% of renters have no home charger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- 100% of apartment dwellers have no home charger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- 24,717 agents entirely dependent on public infrastructure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00000" y="200000"/>
            <a:ext cx="8344000" cy="600000"/>
          </a:xfrm>
          <a:prstGeom prst="rect">
            <a:avLst/>
          </a:prstGeom>
        </p:spPr>
        <p:txBody>
          <a:bodyPr/>
          <a:lstStyle/>
          <a:p>
            <a:r>
              <a:rPr lang="en-US" sz="2400" b="1" dirty="0">
                <a:solidFill>
                  <a:srgbClr val="2196F3"/>
                </a:solidFill>
                <a:latin typeface="Calibri"/>
              </a:rPr>
              <a:t>Research Outputs &amp; Future Studies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400000" y="750000"/>
            <a:ext cx="8344000" cy="300000"/>
          </a:xfrm>
          <a:prstGeom prst="rect">
            <a:avLst/>
          </a:prstGeom>
        </p:spPr>
        <p:txBody>
          <a:bodyPr/>
          <a:lstStyle/>
          <a:p>
            <a:r>
              <a:rPr lang="en-US" sz="1100" dirty="0">
                <a:solidFill>
                  <a:srgbClr val="777777"/>
                </a:solidFill>
                <a:latin typeface="Calibri"/>
              </a:rPr>
              <a:t/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00000" y="1050000"/>
            <a:ext cx="8344000" cy="390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Charging Behavior (Iteration 5)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Public: 16,726 sessions | Home: 8,562 | Work: 8,142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En-route: 5,054 insertions (85% DCFC, 15% L2)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Overnight plug-in rate: 72% (matches NREL 70-75%)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Potential Studies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1. Charger infrastructure gap analysis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2. Income-stratified charging equity assessment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3. Grid load profiles (24-hr charging demand curves)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4. PHEV vs BEV electrification rates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5. Home charger penetration impact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6. Charger utilization &amp; revenue modeling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7. Range anxiety geography (corridor SoC profiles)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  8. Fleet composition impact on infrastructure</a:t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/>
            </a:r>
          </a:p>
          <a:p>
            <a:r>
              <a:rPr lang="en-US" sz="1000" dirty="0">
                <a:solidFill>
                  <a:srgbClr val="373737"/>
                </a:solidFill>
                <a:latin typeface="Consolas"/>
              </a:rPr>
              <a:t>github.com/Tomal121186621/UrbanEV-MATSim-Maryland</a:t>
            </a: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400000" y="200000"/>
            <a:ext cx="8344000" cy="600000"/>
          </a:xfrm>
          <a:prstGeom prst="rect">
            <a:avLst/>
          </a:prstGeom>
        </p:spPr>
        <p:txBody>
          <a:bodyPr/>
          <a:lstStyle/>
          <a:p>
            <a:r>
              <a:rPr lang="en-US" sz="2400" b="1" dirty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400000" y="750000"/>
            <a:ext cx="8344000" cy="300000"/>
          </a:xfrm>
          <a:prstGeom prst="rect">
            <a:avLst/>
          </a:prstGeom>
        </p:spPr>
        <p:txBody>
          <a:bodyPr/>
          <a:lstStyle/>
          <a:p>
            <a:r>
              <a:rPr lang="en-US" sz="1100" dirty="0">
                <a:solidFill>
                  <a:srgbClr val="B4B4DC"/>
                </a:solidFill>
                <a:latin typeface="Calibri"/>
              </a:rPr>
              <a:t>github.com/Tomal121186621/UrbanEV-MATSim-Maryland</a:t>
            </a:r>
          </a:p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00000" y="1050000"/>
            <a:ext cx="8344000" cy="3900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1000" dirty="0">
                <a:solidFill>
                  <a:srgbClr val="B4B4DC"/>
                </a:solidFill>
                <a:latin typeface="Consolas"/>
              </a:rPr>
              <a:t>130,837 EV Agents  |  33 Vehicle Types (BEV + PHEV)</a:t>
            </a:r>
          </a:p>
          <a:p>
            <a:r>
              <a:rPr lang="en-US" sz="1000" dirty="0">
                <a:solidFill>
                  <a:srgbClr val="B4B4DC"/>
                </a:solidFill>
                <a:latin typeface="Consolas"/>
              </a:rPr>
              <a:t>9.8M Link Network  |  1,958 Chargers  |  14 Through Stations</a:t>
            </a:r>
          </a:p>
          <a:p>
            <a:r>
              <a:rPr lang="en-US" sz="1000" dirty="0">
                <a:solidFill>
                  <a:srgbClr val="B4B4DC"/>
                </a:solidFill>
                <a:latin typeface="Consolas"/>
              </a:rPr>
              <a:t>8 Scoring Components  |  3 Replanning Strategies  |  6 New Features</a:t>
            </a:r>
          </a:p>
          <a:p>
            <a:r>
              <a:rPr lang="en-US" sz="1000" dirty="0">
                <a:solidFill>
                  <a:srgbClr val="B4B4DC"/>
                </a:solidFill>
                <a:latin typeface="Consolas"/>
              </a:rPr>
              <a:t/>
            </a:r>
          </a:p>
          <a:p>
            <a:r>
              <a:rPr lang="en-US" sz="1000" dirty="0">
                <a:solidFill>
                  <a:srgbClr val="B4B4DC"/>
                </a:solidFill>
                <a:latin typeface="Consolas"/>
              </a:rPr>
              <a:t>Built on MATSim 12.0 + UrbanEV-v2 (TU Munich / Chalmers)</a:t>
            </a:r>
          </a:p>
        </p:txBody>
      </p:sp>
    </p:spTree>
  </p:cSld>
</p:sld>
</file>

<file path=ppt/theme/theme1.xml><?xml version="1.0" encoding="utf-8"?>
<a:theme xmlns:a="http://schemas.openxmlformats.org/drawingml/2006/main" name="UrbanEV">
  <a:themeElements>
    <a:clrScheme name="UrbanEV">
      <a:dk1>
        <a:srgbClr val="1A1A2E"/>
      </a:dk1>
      <a:lt1>
        <a:srgbClr val="FFFFFF"/>
      </a:lt1>
      <a:dk2>
        <a:srgbClr val="373737"/>
      </a:dk2>
      <a:lt2>
        <a:srgbClr val="F5F5F5"/>
      </a:lt2>
      <a:accent1>
        <a:srgbClr val="2196F3"/>
      </a:accent1>
      <a:accent2>
        <a:srgbClr val="4CAF50"/>
      </a:accent2>
      <a:accent3>
        <a:srgbClr val="FF9800"/>
      </a:accent3>
      <a:accent4>
        <a:srgbClr val="E91E63"/>
      </a:accent4>
      <a:accent5>
        <a:srgbClr val="673AB7"/>
      </a:accent5>
      <a:accent6>
        <a:srgbClr val="009688"/>
      </a:accent6>
      <a:hlink>
        <a:srgbClr val="0563C1"/>
      </a:hlink>
      <a:folHlink>
        <a:srgbClr val="954F72"/>
      </a:folHlink>
    </a:clrScheme>
    <a:fontScheme name="UrbanEV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